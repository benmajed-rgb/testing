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A5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52</c:v>
                </c:pt>
                <c:pt idx="2">
                  <c:v>45</c:v>
                </c:pt>
                <c:pt idx="3">
                  <c:v>67</c:v>
                </c:pt>
                <c:pt idx="4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FA8"/>
              </a:solidFill>
              <a:effectLst/>
            </c:spPr>
          </c:dPt>
          <c:dPt>
            <c:idx val="1"/>
            <c:bubble3D val="0"/>
            <c:spPr>
              <a:solidFill>
                <a:srgbClr val="0F8B8D"/>
              </a:solidFill>
              <a:effectLst/>
            </c:spPr>
          </c:dPt>
          <c:dPt>
            <c:idx val="2"/>
            <c:bubble3D val="0"/>
            <c:spPr>
              <a:solidFill>
                <a:srgbClr val="5C4AB8"/>
              </a:solidFill>
              <a:effectLst/>
            </c:spPr>
          </c:dPt>
          <c:dPt>
            <c:idx val="3"/>
            <c:bubble3D val="0"/>
            <c:spPr>
              <a:solidFill>
                <a:srgbClr val="C94B4B"/>
              </a:solidFill>
              <a:effectLst/>
            </c:spPr>
          </c:dPt>
          <c:dPt>
            <c:idx val="4"/>
            <c:bubble3D val="0"/>
            <c:spPr>
              <a:solidFill>
                <a:srgbClr val="C47A1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BC</c:v>
                </c:pt>
                <c:pt idx="1">
                  <c:v>Pedo</c:v>
                </c:pt>
                <c:pt idx="2">
                  <c:v>OR</c:v>
                </c:pt>
                <c:pt idx="3">
                  <c:v>Hygienist</c:v>
                </c:pt>
                <c:pt idx="4">
                  <c:v>BAWON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58</c:v>
                </c:pt>
                <c:pt idx="1">
                  <c:v>22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Al Homaid</c:v>
                  </c:pt>
                  <c:pt idx="1">
                    <c:v>Abdullah</c:v>
                  </c:pt>
                  <c:pt idx="2">
                    <c:v>Othman</c:v>
                  </c:pt>
                  <c:pt idx="3">
                    <c:v>Hassan</c:v>
                  </c:pt>
                  <c:pt idx="4">
                    <c:v>Faisal</c:v>
                  </c:pt>
                  <c:pt idx="5">
                    <c:v>Emad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18</c:v>
                </c:pt>
                <c:pt idx="2">
                  <c:v>22</c:v>
                </c:pt>
                <c:pt idx="3">
                  <c:v>16</c:v>
                </c:pt>
                <c:pt idx="4">
                  <c:v>20</c:v>
                </c:pt>
                <c:pt idx="5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F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spPr>
            <a:solidFill>
              <a:srgbClr val="C47A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VIP 1</c:v>
                  </c:pt>
                  <c:pt idx="1">
                    <c:v>VIP 2</c:v>
                  </c:pt>
                  <c:pt idx="2">
                    <c:v>VIP 3</c:v>
                  </c:pt>
                  <c:pt idx="3">
                    <c:v>Chair 4</c:v>
                  </c:pt>
                  <c:pt idx="4">
                    <c:v>Chair 5</c:v>
                  </c:pt>
                  <c:pt idx="5">
                    <c:v>PEDO</c:v>
                  </c:pt>
                  <c:pt idx="6">
                    <c:v>OR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</c:v>
                </c:pt>
                <c:pt idx="1">
                  <c:v>72</c:v>
                </c:pt>
                <c:pt idx="2">
                  <c:v>65</c:v>
                </c:pt>
                <c:pt idx="3">
                  <c:v>58</c:v>
                </c:pt>
                <c:pt idx="4">
                  <c:v>50</c:v>
                </c:pt>
                <c:pt idx="5">
                  <c:v>80</c:v>
                </c:pt>
                <c:pt idx="6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8EE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A5FA8">
              <a:alpha val="25000"/>
            </a:srgbClr>
          </a:solidFill>
          <a:ln w="12700">
            <a:solidFill>
              <a:srgbClr val="1A5FA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F8B8D">
              <a:alpha val="20000"/>
            </a:srgbClr>
          </a:solidFill>
          <a:ln w="12700">
            <a:solidFill>
              <a:srgbClr val="0F8B8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5B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DENTAL BUSINESS CENTER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Storyboard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Management · Doctor Management · Clinic Management · Appointment System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1371600" cy="3657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749040"/>
            <a:ext cx="1280160" cy="301752"/>
          </a:xfrm>
          <a:prstGeom prst="rect">
            <a:avLst/>
          </a:prstGeom>
          <a:solidFill>
            <a:srgbClr val="1A5FA8">
              <a:alpha val="40000"/>
            </a:srgbClr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74904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Screens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20240" y="3749040"/>
            <a:ext cx="1280160" cy="301752"/>
          </a:xfrm>
          <a:prstGeom prst="rect">
            <a:avLst/>
          </a:prstGeom>
          <a:solidFill>
            <a:srgbClr val="1A5FA8">
              <a:alpha val="40000"/>
            </a:srgbClr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20240" y="374904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3749040"/>
            <a:ext cx="1280160" cy="301752"/>
          </a:xfrm>
          <a:prstGeom prst="rect">
            <a:avLst/>
          </a:prstGeom>
          <a:solidFill>
            <a:srgbClr val="1A5FA8">
              <a:alpha val="40000"/>
            </a:srgbClr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374904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Doctors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17720" y="3749040"/>
            <a:ext cx="1280160" cy="301752"/>
          </a:xfrm>
          <a:prstGeom prst="rect">
            <a:avLst/>
          </a:prstGeom>
          <a:solidFill>
            <a:srgbClr val="1A5FA8">
              <a:alpha val="40000"/>
            </a:srgbClr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374904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Confidential · Dental Business Center ·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from login through all core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2011680"/>
            <a:ext cx="1234440" cy="777240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22128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20848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" y="24323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0" y="2011680"/>
            <a:ext cx="1371600" cy="7772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22128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12848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12848" y="2432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520440" y="1005840"/>
            <a:ext cx="1554480" cy="77724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20700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04488" y="10789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Mgmt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904488" y="14264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Track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520440" y="2011680"/>
            <a:ext cx="1554480" cy="77724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21284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04488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Mgmt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904488" y="24323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/ Load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520440" y="3017520"/>
            <a:ext cx="1554480" cy="77724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21868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04488" y="3090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904488" y="34381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View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3520440" y="4023360"/>
            <a:ext cx="155448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4224528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904488" y="40965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3904488" y="44439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5394960" y="1005840"/>
            <a:ext cx="1463040" cy="77724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120700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779008" y="1078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779008" y="14264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/ Pedo / OR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5394960" y="2011680"/>
            <a:ext cx="1463040" cy="77724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2212848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779008" y="20848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5779008" y="24323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/ OR / CBCT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5394960" y="3017520"/>
            <a:ext cx="1463040" cy="77724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8112" y="3218688"/>
            <a:ext cx="292608" cy="29260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779008" y="3090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779008" y="3438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Monthly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5394960" y="4023360"/>
            <a:ext cx="146304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8112" y="4224528"/>
            <a:ext cx="292608" cy="29260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779008" y="40965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3" name="Text 31"/>
          <p:cNvSpPr/>
          <p:nvPr/>
        </p:nvSpPr>
        <p:spPr>
          <a:xfrm>
            <a:off x="5779008" y="44439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/ Export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1554480" y="2395728"/>
            <a:ext cx="25603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45" name="Shape 33"/>
          <p:cNvSpPr/>
          <p:nvPr/>
        </p:nvSpPr>
        <p:spPr>
          <a:xfrm>
            <a:off x="2514600" y="2194560"/>
            <a:ext cx="9875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46" name="Shape 34"/>
          <p:cNvSpPr/>
          <p:nvPr/>
        </p:nvSpPr>
        <p:spPr>
          <a:xfrm>
            <a:off x="3200400" y="2395728"/>
            <a:ext cx="3017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47" name="Shape 35"/>
          <p:cNvSpPr/>
          <p:nvPr/>
        </p:nvSpPr>
        <p:spPr>
          <a:xfrm>
            <a:off x="2514600" y="2606040"/>
            <a:ext cx="9875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48" name="Shape 36"/>
          <p:cNvSpPr/>
          <p:nvPr/>
        </p:nvSpPr>
        <p:spPr>
          <a:xfrm>
            <a:off x="2514600" y="2651760"/>
            <a:ext cx="9875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49" name="Shape 37"/>
          <p:cNvSpPr/>
          <p:nvPr/>
        </p:nvSpPr>
        <p:spPr>
          <a:xfrm>
            <a:off x="5074920" y="1389888"/>
            <a:ext cx="3017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50" name="Shape 38"/>
          <p:cNvSpPr/>
          <p:nvPr/>
        </p:nvSpPr>
        <p:spPr>
          <a:xfrm>
            <a:off x="5074920" y="2395728"/>
            <a:ext cx="3017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51" name="Shape 39"/>
          <p:cNvSpPr/>
          <p:nvPr/>
        </p:nvSpPr>
        <p:spPr>
          <a:xfrm>
            <a:off x="5074920" y="3401568"/>
            <a:ext cx="3017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52" name="Shape 40"/>
          <p:cNvSpPr/>
          <p:nvPr/>
        </p:nvSpPr>
        <p:spPr>
          <a:xfrm>
            <a:off x="5074920" y="4407408"/>
            <a:ext cx="3017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53" name="Shape 41"/>
          <p:cNvSpPr/>
          <p:nvPr/>
        </p:nvSpPr>
        <p:spPr>
          <a:xfrm>
            <a:off x="7040880" y="1005840"/>
            <a:ext cx="164592" cy="256032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54" name="Text 42"/>
          <p:cNvSpPr/>
          <p:nvPr/>
        </p:nvSpPr>
        <p:spPr>
          <a:xfrm>
            <a:off x="7251192" y="1005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7040880" y="1508760"/>
            <a:ext cx="164592" cy="25603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7251192" y="1508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7040880" y="2011680"/>
            <a:ext cx="164592" cy="25603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8" name="Text 46"/>
          <p:cNvSpPr/>
          <p:nvPr/>
        </p:nvSpPr>
        <p:spPr>
          <a:xfrm>
            <a:off x="7251192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7040880" y="2514600"/>
            <a:ext cx="164592" cy="256032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7251192" y="2514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61" name="Shape 49"/>
          <p:cNvSpPr/>
          <p:nvPr/>
        </p:nvSpPr>
        <p:spPr>
          <a:xfrm>
            <a:off x="7040880" y="3017520"/>
            <a:ext cx="164592" cy="256032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7251192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63" name="Shape 51"/>
          <p:cNvSpPr/>
          <p:nvPr/>
        </p:nvSpPr>
        <p:spPr>
          <a:xfrm>
            <a:off x="7040880" y="3520440"/>
            <a:ext cx="16459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52"/>
          <p:cNvSpPr/>
          <p:nvPr/>
        </p:nvSpPr>
        <p:spPr>
          <a:xfrm>
            <a:off x="7251192" y="3520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65" name="Text 53"/>
          <p:cNvSpPr/>
          <p:nvPr/>
        </p:nvSpPr>
        <p:spPr>
          <a:xfrm>
            <a:off x="6995160" y="7498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Legend</a:t>
            </a:r>
            <a:endParaRPr lang="en-US" sz="900" dirty="0"/>
          </a:p>
        </p:txBody>
      </p:sp>
      <p:sp>
        <p:nvSpPr>
          <p:cNvPr id="66" name="Text 54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8288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·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login routing users to their correct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0" cy="274320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996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1371600"/>
            <a:ext cx="640080" cy="640080"/>
          </a:xfrm>
          <a:prstGeom prst="ellipse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41732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Business Center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377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continue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3383280" cy="320040"/>
          </a:xfrm>
          <a:prstGeom prst="rect">
            <a:avLst/>
          </a:prstGeom>
          <a:solidFill>
            <a:srgbClr val="F1F4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/ Employee ID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090672"/>
            <a:ext cx="3383280" cy="320040"/>
          </a:xfrm>
          <a:prstGeom prst="rect">
            <a:avLst/>
          </a:prstGeom>
          <a:solidFill>
            <a:srgbClr val="F1F4F8"/>
          </a:solidFill>
          <a:ln w="6350">
            <a:solidFill>
              <a:srgbClr val="D0DA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••••••••••••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520440"/>
            <a:ext cx="3383280" cy="347472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520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39502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 Contact IT Support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0" y="96012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12080" y="9966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63440" y="1325880"/>
            <a:ext cx="502920" cy="3291840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463040"/>
            <a:ext cx="274320" cy="27432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057400"/>
            <a:ext cx="274320" cy="27432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651760"/>
            <a:ext cx="274320" cy="27432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246120"/>
            <a:ext cx="274320" cy="274320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840480"/>
            <a:ext cx="274320" cy="27432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257800" y="1371600"/>
            <a:ext cx="1051560" cy="640080"/>
          </a:xfrm>
          <a:prstGeom prst="rect">
            <a:avLst/>
          </a:prstGeom>
          <a:solidFill>
            <a:srgbClr val="EAF2FB"/>
          </a:solidFill>
          <a:ln w="6350">
            <a:solidFill>
              <a:srgbClr val="D8E8F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257800" y="1371600"/>
            <a:ext cx="105156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257800" y="144475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5257800" y="176479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Appts</a:t>
            </a:r>
            <a:endParaRPr lang="en-US" sz="700" dirty="0"/>
          </a:p>
        </p:txBody>
      </p:sp>
      <p:sp>
        <p:nvSpPr>
          <p:cNvPr id="35" name="Shape 27"/>
          <p:cNvSpPr/>
          <p:nvPr/>
        </p:nvSpPr>
        <p:spPr>
          <a:xfrm>
            <a:off x="6400800" y="1371600"/>
            <a:ext cx="1051560" cy="640080"/>
          </a:xfrm>
          <a:prstGeom prst="rect">
            <a:avLst/>
          </a:prstGeom>
          <a:solidFill>
            <a:srgbClr val="E0F5F5"/>
          </a:solidFill>
          <a:ln w="6350">
            <a:solidFill>
              <a:srgbClr val="D8E8F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400800" y="1371600"/>
            <a:ext cx="1051560" cy="6400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400800" y="144475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1,247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6400800" y="176479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Patients</a:t>
            </a:r>
            <a:endParaRPr lang="en-US" sz="700" dirty="0"/>
          </a:p>
        </p:txBody>
      </p:sp>
      <p:sp>
        <p:nvSpPr>
          <p:cNvPr id="39" name="Shape 31"/>
          <p:cNvSpPr/>
          <p:nvPr/>
        </p:nvSpPr>
        <p:spPr>
          <a:xfrm>
            <a:off x="7543800" y="1371600"/>
            <a:ext cx="1051560" cy="640080"/>
          </a:xfrm>
          <a:prstGeom prst="rect">
            <a:avLst/>
          </a:prstGeom>
          <a:solidFill>
            <a:srgbClr val="FAEAEA"/>
          </a:solidFill>
          <a:ln w="6350">
            <a:solidFill>
              <a:srgbClr val="D8E8F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543800" y="1371600"/>
            <a:ext cx="1051560" cy="64008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543800" y="144475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34"/>
          <p:cNvSpPr/>
          <p:nvPr/>
        </p:nvSpPr>
        <p:spPr>
          <a:xfrm>
            <a:off x="7543800" y="176479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700" dirty="0"/>
          </a:p>
        </p:txBody>
      </p:sp>
      <p:sp>
        <p:nvSpPr>
          <p:cNvPr id="43" name="Shape 35"/>
          <p:cNvSpPr/>
          <p:nvPr/>
        </p:nvSpPr>
        <p:spPr>
          <a:xfrm>
            <a:off x="5276088" y="2962656"/>
            <a:ext cx="320040" cy="329184"/>
          </a:xfrm>
          <a:prstGeom prst="rect">
            <a:avLst/>
          </a:prstGeom>
          <a:solidFill>
            <a:srgbClr val="1A5FA8">
              <a:alpha val="80000"/>
            </a:srgbClr>
          </a:solidFill>
          <a:ln w="12700">
            <a:solidFill>
              <a:srgbClr val="1A5FA8">
                <a:alpha val="4000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733288" y="2688336"/>
            <a:ext cx="320040" cy="603504"/>
          </a:xfrm>
          <a:prstGeom prst="rect">
            <a:avLst/>
          </a:prstGeom>
          <a:solidFill>
            <a:srgbClr val="1A5FA8">
              <a:alpha val="50000"/>
            </a:srgbClr>
          </a:solidFill>
          <a:ln w="12700">
            <a:solidFill>
              <a:srgbClr val="1A5FA8">
                <a:alpha val="4000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190488" y="2830982"/>
            <a:ext cx="320040" cy="460858"/>
          </a:xfrm>
          <a:prstGeom prst="rect">
            <a:avLst/>
          </a:prstGeom>
          <a:solidFill>
            <a:srgbClr val="1A5FA8">
              <a:alpha val="80000"/>
            </a:srgbClr>
          </a:solidFill>
          <a:ln w="12700">
            <a:solidFill>
              <a:srgbClr val="1A5FA8">
                <a:alpha val="4000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647688" y="2523744"/>
            <a:ext cx="320040" cy="768096"/>
          </a:xfrm>
          <a:prstGeom prst="rect">
            <a:avLst/>
          </a:prstGeom>
          <a:solidFill>
            <a:srgbClr val="1A5FA8">
              <a:alpha val="50000"/>
            </a:srgbClr>
          </a:solidFill>
          <a:ln w="12700">
            <a:solidFill>
              <a:srgbClr val="1A5FA8">
                <a:alpha val="4000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104888" y="2743200"/>
            <a:ext cx="320040" cy="548640"/>
          </a:xfrm>
          <a:prstGeom prst="rect">
            <a:avLst/>
          </a:prstGeom>
          <a:solidFill>
            <a:srgbClr val="1A5FA8">
              <a:alpha val="80000"/>
            </a:srgbClr>
          </a:solidFill>
          <a:ln w="12700">
            <a:solidFill>
              <a:srgbClr val="1A5FA8">
                <a:alpha val="4000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7562088" y="2578608"/>
            <a:ext cx="320040" cy="713232"/>
          </a:xfrm>
          <a:prstGeom prst="rect">
            <a:avLst/>
          </a:prstGeom>
          <a:solidFill>
            <a:srgbClr val="1A5FA8">
              <a:alpha val="50000"/>
            </a:srgbClr>
          </a:solidFill>
          <a:ln w="12700">
            <a:solidFill>
              <a:srgbClr val="1A5FA8">
                <a:alpha val="40000"/>
              </a:srgbClr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8019288" y="2414016"/>
            <a:ext cx="320040" cy="877824"/>
          </a:xfrm>
          <a:prstGeom prst="rect">
            <a:avLst/>
          </a:prstGeom>
          <a:solidFill>
            <a:srgbClr val="1A5FA8">
              <a:alpha val="80000"/>
            </a:srgbClr>
          </a:solidFill>
          <a:ln w="12700">
            <a:solidFill>
              <a:srgbClr val="1A5FA8">
                <a:alpha val="40000"/>
              </a:srgbClr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230368" y="33558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appointments</a:t>
            </a:r>
            <a:endParaRPr lang="en-US" sz="800" dirty="0"/>
          </a:p>
        </p:txBody>
      </p:sp>
      <p:sp>
        <p:nvSpPr>
          <p:cNvPr id="51" name="Shape 43"/>
          <p:cNvSpPr/>
          <p:nvPr/>
        </p:nvSpPr>
        <p:spPr>
          <a:xfrm>
            <a:off x="5230368" y="3611880"/>
            <a:ext cx="3291840" cy="301752"/>
          </a:xfrm>
          <a:prstGeom prst="rect">
            <a:avLst/>
          </a:prstGeom>
          <a:solidFill>
            <a:srgbClr val="F1F4F8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5285232" y="36484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Homaid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6766560" y="364845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7406640" y="36484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1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5230368" y="3959352"/>
            <a:ext cx="32918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285232" y="39959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Abdullah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6766560" y="39959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7406640" y="39959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2</a:t>
            </a:r>
            <a:endParaRPr lang="en-US" sz="800" dirty="0"/>
          </a:p>
        </p:txBody>
      </p:sp>
      <p:sp>
        <p:nvSpPr>
          <p:cNvPr id="59" name="Shape 51"/>
          <p:cNvSpPr/>
          <p:nvPr/>
        </p:nvSpPr>
        <p:spPr>
          <a:xfrm>
            <a:off x="5230368" y="4306824"/>
            <a:ext cx="3291840" cy="301752"/>
          </a:xfrm>
          <a:prstGeom prst="rect">
            <a:avLst/>
          </a:prstGeom>
          <a:solidFill>
            <a:srgbClr val="F1F4F8"/>
          </a:solidFill>
          <a:ln w="3810">
            <a:solidFill>
              <a:srgbClr val="E8EEF5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5285232" y="434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Othman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6766560" y="4343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7406640" y="4343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4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365760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with access: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2286000" y="4736592"/>
            <a:ext cx="1188720" cy="201168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2286000" y="4736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3657600" y="4736592"/>
            <a:ext cx="1188720" cy="20116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3657600" y="4736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00" dirty="0"/>
          </a:p>
        </p:txBody>
      </p:sp>
      <p:sp>
        <p:nvSpPr>
          <p:cNvPr id="68" name="Shape 60"/>
          <p:cNvSpPr/>
          <p:nvPr/>
        </p:nvSpPr>
        <p:spPr>
          <a:xfrm>
            <a:off x="5029200" y="4736592"/>
            <a:ext cx="1188720" cy="20116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5029200" y="4736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900" dirty="0"/>
          </a:p>
        </p:txBody>
      </p:sp>
      <p:sp>
        <p:nvSpPr>
          <p:cNvPr id="70" name="Text 62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· Patient Management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searchable database, per-doctor tracker — sourced from Pt_Registration.xlsx &amp; Pt_Database.xlsx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996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44168"/>
            <a:ext cx="379476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441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" y="1618488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645920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(Arabic / English)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4632" y="1801368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288" y="1618488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645920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59152" y="1801368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057400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084832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/ Sex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4632" y="2240280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288" y="2057400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2084832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359152" y="2240280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2496312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523744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84632" y="2679192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04288" y="2496312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9152" y="2523744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359152" y="2679192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971800"/>
            <a:ext cx="379476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97180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&amp; Contact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9768" y="3246120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273552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/ Iqama No.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4632" y="3429000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04288" y="3246120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59152" y="3273552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Expiry Date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59152" y="3429000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" y="3685032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712464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4632" y="3867912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04288" y="3685032"/>
            <a:ext cx="1783080" cy="347472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9152" y="3712464"/>
            <a:ext cx="16733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359152" y="3867912"/>
            <a:ext cx="1463040" cy="91440"/>
          </a:xfrm>
          <a:prstGeom prst="rect">
            <a:avLst/>
          </a:prstGeom>
          <a:solidFill>
            <a:srgbClr val="C8D4E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" y="4178808"/>
            <a:ext cx="3758184" cy="384048"/>
          </a:xfrm>
          <a:prstGeom prst="rect">
            <a:avLst/>
          </a:prstGeom>
          <a:solidFill>
            <a:srgbClr val="FFF3CD"/>
          </a:solidFill>
          <a:ln w="6350">
            <a:solidFill>
              <a:srgbClr val="F5C5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17880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COVID-19 Pre-screening Questionnaire (12 questions, bilingual AR/EN)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96012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9966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Database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1307592"/>
            <a:ext cx="758952" cy="256032"/>
          </a:xfrm>
          <a:prstGeom prst="rect">
            <a:avLst/>
          </a:prstGeom>
          <a:solidFill>
            <a:srgbClr val="1A5FA8"/>
          </a:solidFill>
          <a:ln w="6350">
            <a:solidFill>
              <a:srgbClr val="1A5F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1307592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68112" y="1307592"/>
            <a:ext cx="758952" cy="256032"/>
          </a:xfrm>
          <a:prstGeom prst="rect">
            <a:avLst/>
          </a:prstGeom>
          <a:solidFill>
            <a:srgbClr val="F1F4F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68112" y="1307592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Pedo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72784" y="1307592"/>
            <a:ext cx="758952" cy="256032"/>
          </a:xfrm>
          <a:prstGeom prst="rect">
            <a:avLst/>
          </a:prstGeom>
          <a:solidFill>
            <a:srgbClr val="F1F4F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72784" y="1307592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Hygienist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077456" y="1307592"/>
            <a:ext cx="758952" cy="256032"/>
          </a:xfrm>
          <a:prstGeom prst="rect">
            <a:avLst/>
          </a:prstGeom>
          <a:solidFill>
            <a:srgbClr val="F1F4F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77456" y="1307592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882128" y="1307592"/>
            <a:ext cx="758952" cy="256032"/>
          </a:xfrm>
          <a:prstGeom prst="rect">
            <a:avLst/>
          </a:prstGeom>
          <a:solidFill>
            <a:srgbClr val="F1F4F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82128" y="1307592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63440" y="1618488"/>
            <a:ext cx="4023360" cy="274320"/>
          </a:xfrm>
          <a:prstGeom prst="rect">
            <a:avLst/>
          </a:prstGeom>
          <a:solidFill>
            <a:srgbClr val="F1F4F8"/>
          </a:solidFill>
          <a:ln w="6350">
            <a:solidFill>
              <a:srgbClr val="C8D4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1618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by name, PRS #, National ID, phone...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1947672"/>
            <a:ext cx="4023360" cy="246888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81728" y="19659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001768" y="1965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281928" y="1965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#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22008" y="196596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 Med #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699248" y="19659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663440" y="221284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A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90872" y="230428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10912" y="2304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A. Naimi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291072" y="23042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931152" y="230428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323740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708392" y="2304288"/>
            <a:ext cx="621792" cy="228600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08392" y="2304288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663440" y="2688336"/>
            <a:ext cx="4023360" cy="411480"/>
          </a:xfrm>
          <a:prstGeom prst="rect">
            <a:avLst/>
          </a:prstGeom>
          <a:solidFill>
            <a:srgbClr val="F1F4F8"/>
          </a:solidFill>
          <a:ln w="3810">
            <a:solidFill>
              <a:srgbClr val="E0EA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90872" y="277977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10912" y="27797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Fatimah S. Al Bahrani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91072" y="277977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931152" y="277977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1332578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708392" y="2779776"/>
            <a:ext cx="621792" cy="228600"/>
          </a:xfrm>
          <a:prstGeom prst="rect">
            <a:avLst/>
          </a:prstGeom>
          <a:solidFill>
            <a:srgbClr val="C47A15">
              <a:alpha val="85000"/>
            </a:srgbClr>
          </a:solidFill>
          <a:ln w="12700">
            <a:solidFill>
              <a:srgbClr val="C47A15">
                <a:alpha val="6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08392" y="2779776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663440" y="3163824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A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90872" y="325526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010912" y="32552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 Otaibi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291072" y="32552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BC-0421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931152" y="325526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445621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708392" y="3255264"/>
            <a:ext cx="621792" cy="228600"/>
          </a:xfrm>
          <a:prstGeom prst="rect">
            <a:avLst/>
          </a:prstGeom>
          <a:solidFill>
            <a:srgbClr val="1A5FA8">
              <a:alpha val="85000"/>
            </a:srgbClr>
          </a:solidFill>
          <a:ln w="12700">
            <a:solidFill>
              <a:srgbClr val="1A5FA8">
                <a:alpha val="6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08392" y="3255264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4663440" y="3639312"/>
            <a:ext cx="4023360" cy="411480"/>
          </a:xfrm>
          <a:prstGeom prst="rect">
            <a:avLst/>
          </a:prstGeom>
          <a:solidFill>
            <a:srgbClr val="F1F4F8"/>
          </a:solidFill>
          <a:ln w="3810">
            <a:solidFill>
              <a:srgbClr val="E0EA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90872" y="373075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010912" y="37307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 Khalid Al Zahrani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91072" y="37307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BC-0089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931152" y="373075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210345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708392" y="3730752"/>
            <a:ext cx="621792" cy="228600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>
                <a:alpha val="6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08392" y="3730752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663440" y="4114800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A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90872" y="420624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010912" y="42062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 F. Al Ghamdi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291072" y="42062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BC-1102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931152" y="42062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556789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708392" y="4206240"/>
            <a:ext cx="621792" cy="228600"/>
          </a:xfrm>
          <a:prstGeom prst="rect">
            <a:avLst/>
          </a:prstGeom>
          <a:solidFill>
            <a:srgbClr val="1A5FA8">
              <a:alpha val="85000"/>
            </a:srgbClr>
          </a:solidFill>
          <a:ln w="12700">
            <a:solidFill>
              <a:srgbClr val="1A5FA8">
                <a:alpha val="6000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708392" y="420624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· Patient Tracker &amp;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Per-doctor patient tracking view and comprehensive patient profile — sourced from Pt_Tracker.xlsx (27 doctor sheets)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996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Tracker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07592"/>
            <a:ext cx="3794760" cy="292608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075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Y. Al Homaid  ▾  (1 of 27 doctors)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73352"/>
            <a:ext cx="3794760" cy="228600"/>
          </a:xfrm>
          <a:prstGeom prst="rect">
            <a:avLst/>
          </a:prstGeom>
          <a:solidFill>
            <a:srgbClr val="EEEDFE"/>
          </a:solidFill>
          <a:ln w="6350">
            <a:solidFill>
              <a:srgbClr val="C8D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6733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89888" y="16733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Visit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21408" y="16733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Tx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07208" y="16733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Visit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84448" y="16733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1947672"/>
            <a:ext cx="37947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0574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A. Naimi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89888" y="20574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2020-06-10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121408" y="20574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x3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807208" y="20574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2020-11-10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584448" y="2112264"/>
            <a:ext cx="713232" cy="228600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112264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1480" y="2606040"/>
            <a:ext cx="3794760" cy="594360"/>
          </a:xfrm>
          <a:prstGeom prst="rect">
            <a:avLst/>
          </a:prstGeom>
          <a:solidFill>
            <a:srgbClr val="F1F4F8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715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Fatimah S. Al Bahrani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89888" y="2715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2020-06-10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21408" y="2715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807208" y="271576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584448" y="2770632"/>
            <a:ext cx="713232" cy="228600"/>
          </a:xfrm>
          <a:prstGeom prst="rect">
            <a:avLst/>
          </a:prstGeom>
          <a:solidFill>
            <a:srgbClr val="C47A15">
              <a:alpha val="85000"/>
            </a:srgbClr>
          </a:solidFill>
          <a:ln w="12700">
            <a:solidFill>
              <a:srgbClr val="C47A15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2770632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11480" y="3264408"/>
            <a:ext cx="379476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3741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 Al Zahrani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89888" y="33741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2020-09-15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121408" y="33741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 wing x-ray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807208" y="33741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2021-01-05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584448" y="3429000"/>
            <a:ext cx="713232" cy="228600"/>
          </a:xfrm>
          <a:prstGeom prst="rect">
            <a:avLst/>
          </a:prstGeom>
          <a:solidFill>
            <a:srgbClr val="1A5FA8">
              <a:alpha val="85000"/>
            </a:srgbClr>
          </a:solidFill>
          <a:ln w="12700">
            <a:solidFill>
              <a:srgbClr val="1A5FA8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342900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11480" y="3922776"/>
            <a:ext cx="3794760" cy="594360"/>
          </a:xfrm>
          <a:prstGeom prst="rect">
            <a:avLst/>
          </a:prstGeom>
          <a:solidFill>
            <a:srgbClr val="F1F4F8"/>
          </a:solidFill>
          <a:ln w="3810">
            <a:solidFill>
              <a:srgbClr val="E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40325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 Otaibi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389888" y="40325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2020-10-20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121408" y="40325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canal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807208" y="40325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2021-02-01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84448" y="4087368"/>
            <a:ext cx="713232" cy="228600"/>
          </a:xfrm>
          <a:prstGeom prst="rect">
            <a:avLst/>
          </a:prstGeom>
          <a:solidFill>
            <a:srgbClr val="1A5FA8">
              <a:alpha val="85000"/>
            </a:srgbClr>
          </a:solidFill>
          <a:ln w="12700">
            <a:solidFill>
              <a:srgbClr val="1A5FA8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4087368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72000" y="96012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9966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1344168"/>
            <a:ext cx="594360" cy="594360"/>
          </a:xfrm>
          <a:prstGeom prst="ellipse">
            <a:avLst/>
          </a:prstGeom>
          <a:solidFill>
            <a:srgbClr val="EEEDFE"/>
          </a:solidFill>
          <a:ln w="6350">
            <a:solidFill>
              <a:srgbClr val="C0C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4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376672" y="1371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Abdullah Abdulaziz Naimi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76672" y="164592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PRS: —  |  Quadra Med: 323740  |  Category: BC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2039112"/>
            <a:ext cx="1920240" cy="329184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20574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773168" y="2194560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050-681-2911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20840" y="2039112"/>
            <a:ext cx="1920240" cy="329184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20574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784848" y="2194560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1985-03-12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2423160"/>
            <a:ext cx="1920240" cy="329184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244144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73168" y="2578608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1082XXXXXX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20840" y="2423160"/>
            <a:ext cx="1920240" cy="329184"/>
          </a:xfrm>
          <a:prstGeom prst="rect">
            <a:avLst/>
          </a:prstGeom>
          <a:solidFill>
            <a:srgbClr val="F1F4F8"/>
          </a:solidFill>
          <a:ln w="6350">
            <a:solidFill>
              <a:srgbClr val="D8E0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84848" y="244144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784848" y="2578608"/>
            <a:ext cx="18288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Homaid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2880360"/>
            <a:ext cx="4023360" cy="201168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09160" y="2880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History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81728" y="3227832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36592" y="3337560"/>
            <a:ext cx="0" cy="347472"/>
          </a:xfrm>
          <a:prstGeom prst="line">
            <a:avLst/>
          </a:prstGeom>
          <a:noFill/>
          <a:ln w="8890">
            <a:solidFill>
              <a:srgbClr val="C0D0E8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4846320" y="318211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10, 2020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650992" y="31821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+ Bite-wing Film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955280" y="318211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Homaid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681728" y="3703320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36592" y="3813048"/>
            <a:ext cx="0" cy="347472"/>
          </a:xfrm>
          <a:prstGeom prst="line">
            <a:avLst/>
          </a:prstGeom>
          <a:noFill/>
          <a:ln w="8890">
            <a:solidFill>
              <a:srgbClr val="C0D0E8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4846320" y="36576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10, 2020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650992" y="3657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– 3 Surfaces (Posterior)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955280" y="36576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Homaid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681728" y="4178808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36592" y="4288536"/>
            <a:ext cx="0" cy="347472"/>
          </a:xfrm>
          <a:prstGeom prst="line">
            <a:avLst/>
          </a:prstGeom>
          <a:noFill/>
          <a:ln w="8890">
            <a:solidFill>
              <a:srgbClr val="C0D0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0" y="413308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10, 2020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650992" y="41330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Treatment – Next Visit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955280" y="413308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Homaid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709160" y="4434840"/>
            <a:ext cx="1188720" cy="256032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9160" y="4434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035040" y="4434840"/>
            <a:ext cx="1188720" cy="25603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35040" y="4434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60920" y="4434840"/>
            <a:ext cx="118872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60920" y="4434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· Doctor &amp; Clinic Management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27-doctor directory, clinic room management, and non-payment tracking — from Pt_Tracker.xlsx &amp; Schedule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996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Directory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3794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1435608"/>
            <a:ext cx="475488" cy="475488"/>
          </a:xfrm>
          <a:prstGeom prst="ellipse">
            <a:avLst/>
          </a:prstGeom>
          <a:solidFill>
            <a:srgbClr val="1A5FA8">
              <a:alpha val="85000"/>
            </a:srgbClr>
          </a:solidFill>
          <a:ln w="12700">
            <a:solidFill>
              <a:srgbClr val="1A5FA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435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Y. Al Homaid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3272" y="16367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Dentistry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33272" y="1819656"/>
            <a:ext cx="530352" cy="164592"/>
          </a:xfrm>
          <a:prstGeom prst="rect">
            <a:avLst/>
          </a:prstGeom>
          <a:solidFill>
            <a:srgbClr val="EAF2FB"/>
          </a:solidFill>
          <a:ln w="6350">
            <a:solidFill>
              <a:srgbClr val="B8D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1819656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46120" y="1527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patients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1783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148840"/>
            <a:ext cx="3794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" y="2258568"/>
            <a:ext cx="475488" cy="475488"/>
          </a:xfrm>
          <a:prstGeom prst="ellipse">
            <a:avLst/>
          </a:prstGeom>
          <a:solidFill>
            <a:srgbClr val="0F8B8D">
              <a:alpha val="85000"/>
            </a:srgbClr>
          </a:solidFill>
          <a:ln w="12700">
            <a:solidFill>
              <a:srgbClr val="0F8B8D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258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" y="2240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Abdullah Al Madani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3272" y="2459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Endodontics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33272" y="2642616"/>
            <a:ext cx="530352" cy="164592"/>
          </a:xfrm>
          <a:prstGeom prst="rect">
            <a:avLst/>
          </a:prstGeom>
          <a:solidFill>
            <a:srgbClr val="EAF2FB"/>
          </a:solidFill>
          <a:ln w="6350">
            <a:solidFill>
              <a:srgbClr val="B8D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2642616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246120" y="2350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patients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46120" y="2606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2971800"/>
            <a:ext cx="3794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" y="3081528"/>
            <a:ext cx="475488" cy="475488"/>
          </a:xfrm>
          <a:prstGeom prst="ellipse">
            <a:avLst/>
          </a:prstGeom>
          <a:solidFill>
            <a:srgbClr val="5C4AB8">
              <a:alpha val="85000"/>
            </a:srgbClr>
          </a:solidFill>
          <a:ln w="12700">
            <a:solidFill>
              <a:srgbClr val="5C4AB8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081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33272" y="3063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Muhanad Al Hareky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" y="32826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Dentistry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33272" y="3465576"/>
            <a:ext cx="530352" cy="164592"/>
          </a:xfrm>
          <a:prstGeom prst="rect">
            <a:avLst/>
          </a:prstGeom>
          <a:solidFill>
            <a:srgbClr val="EAF2FB"/>
          </a:solidFill>
          <a:ln w="6350">
            <a:solidFill>
              <a:srgbClr val="B8D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3465576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46120" y="31729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4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patients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246120" y="3429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11480" y="3794760"/>
            <a:ext cx="3794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" y="3904488"/>
            <a:ext cx="475488" cy="475488"/>
          </a:xfrm>
          <a:prstGeom prst="ellipse">
            <a:avLst/>
          </a:prstGeom>
          <a:solidFill>
            <a:srgbClr val="C94B4B">
              <a:alpha val="85000"/>
            </a:srgbClr>
          </a:solidFill>
          <a:ln w="12700">
            <a:solidFill>
              <a:srgbClr val="C94B4B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39044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33272" y="3886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Rasha Al Sheikh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3272" y="410565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Periodontics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33272" y="4288536"/>
            <a:ext cx="530352" cy="164592"/>
          </a:xfrm>
          <a:prstGeom prst="rect">
            <a:avLst/>
          </a:prstGeom>
          <a:solidFill>
            <a:srgbClr val="EAF2FB"/>
          </a:solidFill>
          <a:ln w="6350">
            <a:solidFill>
              <a:srgbClr val="B8D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3272" y="4288536"/>
            <a:ext cx="53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5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46120" y="39959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4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patients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246120" y="4251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29768" y="523951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+ 23 more doctors across all specialties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96012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996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Rooms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1344168"/>
            <a:ext cx="914400" cy="438912"/>
          </a:xfrm>
          <a:prstGeom prst="rect">
            <a:avLst/>
          </a:prstGeom>
          <a:solidFill>
            <a:srgbClr val="1A5FA8">
              <a:alpha val="15000"/>
            </a:srgbClr>
          </a:solidFill>
          <a:ln w="12700">
            <a:solidFill>
              <a:srgbClr val="1A5FA8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1344168"/>
            <a:ext cx="91440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1435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63440" y="163677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669280" y="1344168"/>
            <a:ext cx="914400" cy="438912"/>
          </a:xfrm>
          <a:prstGeom prst="rect">
            <a:avLst/>
          </a:prstGeom>
          <a:solidFill>
            <a:srgbClr val="1A5FA8">
              <a:alpha val="15000"/>
            </a:srgbClr>
          </a:solidFill>
          <a:ln w="12700">
            <a:solidFill>
              <a:srgbClr val="1A5FA8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1344168"/>
            <a:ext cx="91440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1435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69280" y="163677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675120" y="1344168"/>
            <a:ext cx="914400" cy="438912"/>
          </a:xfrm>
          <a:prstGeom prst="rect">
            <a:avLst/>
          </a:prstGeom>
          <a:solidFill>
            <a:srgbClr val="1A5FA8">
              <a:alpha val="15000"/>
            </a:srgbClr>
          </a:solidFill>
          <a:ln w="12700">
            <a:solidFill>
              <a:srgbClr val="1A5FA8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1344168"/>
            <a:ext cx="91440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1435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75120" y="163677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680960" y="1344168"/>
            <a:ext cx="914400" cy="438912"/>
          </a:xfrm>
          <a:prstGeom prst="rect">
            <a:avLst/>
          </a:prstGeom>
          <a:solidFill>
            <a:srgbClr val="0F8B8D">
              <a:alpha val="15000"/>
            </a:srgbClr>
          </a:solidFill>
          <a:ln w="12700">
            <a:solidFill>
              <a:srgbClr val="0F8B8D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80960" y="1344168"/>
            <a:ext cx="914400" cy="6400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80960" y="1435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80960" y="163677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663440" y="1892808"/>
            <a:ext cx="914400" cy="438912"/>
          </a:xfrm>
          <a:prstGeom prst="rect">
            <a:avLst/>
          </a:prstGeom>
          <a:solidFill>
            <a:srgbClr val="0F8B8D">
              <a:alpha val="15000"/>
            </a:srgbClr>
          </a:solidFill>
          <a:ln w="12700">
            <a:solidFill>
              <a:srgbClr val="0F8B8D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63440" y="1892808"/>
            <a:ext cx="914400" cy="6400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1984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663440" y="218541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669280" y="1892808"/>
            <a:ext cx="914400" cy="438912"/>
          </a:xfrm>
          <a:prstGeom prst="rect">
            <a:avLst/>
          </a:prstGeom>
          <a:solidFill>
            <a:srgbClr val="5C4AB8">
              <a:alpha val="15000"/>
            </a:srgbClr>
          </a:solidFill>
          <a:ln w="12700">
            <a:solidFill>
              <a:srgbClr val="5C4AB8">
                <a:alpha val="7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69280" y="1892808"/>
            <a:ext cx="914400" cy="64008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1984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PEDO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669280" y="218541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675120" y="1892808"/>
            <a:ext cx="914400" cy="438912"/>
          </a:xfrm>
          <a:prstGeom prst="rect">
            <a:avLst/>
          </a:prstGeom>
          <a:solidFill>
            <a:srgbClr val="C94B4B">
              <a:alpha val="15000"/>
            </a:srgbClr>
          </a:solidFill>
          <a:ln w="12700">
            <a:solidFill>
              <a:srgbClr val="C94B4B">
                <a:alpha val="7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75120" y="1892808"/>
            <a:ext cx="914400" cy="64008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75120" y="1984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675120" y="218541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680960" y="1892808"/>
            <a:ext cx="914400" cy="438912"/>
          </a:xfrm>
          <a:prstGeom prst="rect">
            <a:avLst/>
          </a:prstGeom>
          <a:solidFill>
            <a:srgbClr val="C47A15">
              <a:alpha val="15000"/>
            </a:srgbClr>
          </a:solidFill>
          <a:ln w="12700">
            <a:solidFill>
              <a:srgbClr val="C47A15">
                <a:alpha val="7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80960" y="1892808"/>
            <a:ext cx="914400" cy="64008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80960" y="19842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CBCT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680960" y="2185416"/>
            <a:ext cx="914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572000" y="29260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572000" y="2926080"/>
            <a:ext cx="594360" cy="27432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0" y="29260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212080" y="29626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Non-Payment Tracker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4663440" y="3319272"/>
            <a:ext cx="4023360" cy="365760"/>
          </a:xfrm>
          <a:prstGeom prst="rect">
            <a:avLst/>
          </a:prstGeom>
          <a:solidFill>
            <a:srgbClr val="FAEAEA"/>
          </a:solidFill>
          <a:ln w="6350">
            <a:solidFill>
              <a:srgbClr val="F0C0C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09160" y="3438144"/>
            <a:ext cx="128016" cy="128016"/>
          </a:xfrm>
          <a:prstGeom prst="ellipse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01184" y="33924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A. Al Dosari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949440" y="339242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450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790688" y="3410712"/>
            <a:ext cx="804672" cy="201168"/>
          </a:xfrm>
          <a:prstGeom prst="rect">
            <a:avLst/>
          </a:prstGeom>
          <a:solidFill>
            <a:srgbClr val="C94B4B">
              <a:alpha val="85000"/>
            </a:srgbClr>
          </a:solidFill>
          <a:ln w="12700">
            <a:solidFill>
              <a:srgbClr val="C94B4B">
                <a:alpha val="7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90688" y="341071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663440" y="3758184"/>
            <a:ext cx="4023360" cy="365760"/>
          </a:xfrm>
          <a:prstGeom prst="rect">
            <a:avLst/>
          </a:prstGeom>
          <a:solidFill>
            <a:srgbClr val="FDF3E3"/>
          </a:solidFill>
          <a:ln w="6350">
            <a:solidFill>
              <a:srgbClr val="F0D89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09160" y="3877056"/>
            <a:ext cx="128016" cy="128016"/>
          </a:xfrm>
          <a:prstGeom prst="ellipse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01184" y="38313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M. Al Ghamdi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949440" y="383133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220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790688" y="3849624"/>
            <a:ext cx="804672" cy="201168"/>
          </a:xfrm>
          <a:prstGeom prst="rect">
            <a:avLst/>
          </a:prstGeom>
          <a:solidFill>
            <a:srgbClr val="C47A15">
              <a:alpha val="85000"/>
            </a:srgbClr>
          </a:solidFill>
          <a:ln w="12700">
            <a:solidFill>
              <a:srgbClr val="C47A15">
                <a:alpha val="7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90688" y="384962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663440" y="4197096"/>
            <a:ext cx="4023360" cy="365760"/>
          </a:xfrm>
          <a:prstGeom prst="rect">
            <a:avLst/>
          </a:prstGeom>
          <a:solidFill>
            <a:srgbClr val="FAEAEA"/>
          </a:solidFill>
          <a:ln w="6350">
            <a:solidFill>
              <a:srgbClr val="F0C0C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09160" y="4315968"/>
            <a:ext cx="128016" cy="128016"/>
          </a:xfrm>
          <a:prstGeom prst="ellipse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01184" y="4270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F. Al Hamdan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949440" y="427024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780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790688" y="4288536"/>
            <a:ext cx="804672" cy="201168"/>
          </a:xfrm>
          <a:prstGeom prst="rect">
            <a:avLst/>
          </a:prstGeom>
          <a:solidFill>
            <a:srgbClr val="C94B4B">
              <a:alpha val="85000"/>
            </a:srgbClr>
          </a:solidFill>
          <a:ln w="12700">
            <a:solidFill>
              <a:srgbClr val="C94B4B">
                <a:alpha val="7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790688" y="4288536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· Appointment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daily schedule views, booking wizard, reminders — based on Schedule_Business_Center_NOVEMBER.xlsx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9966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Schedule — November 2021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307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69264" y="1307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08760" y="1307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48256" y="1307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87752" y="1307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27248" y="1307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66744" y="1307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29768" y="150876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150876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150876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5568" y="174650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150876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150876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55064" y="174650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48256" y="1508760"/>
            <a:ext cx="484632" cy="438912"/>
          </a:xfrm>
          <a:prstGeom prst="rect">
            <a:avLst/>
          </a:prstGeom>
          <a:solidFill>
            <a:srgbClr val="FFE8E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150876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1746504"/>
            <a:ext cx="73152" cy="73152"/>
          </a:xfrm>
          <a:prstGeom prst="ellipse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87752" y="150876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87752" y="150876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34056" y="174650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27248" y="1508760"/>
            <a:ext cx="484632" cy="438912"/>
          </a:xfrm>
          <a:prstGeom prst="rect">
            <a:avLst/>
          </a:prstGeom>
          <a:solidFill>
            <a:srgbClr val="1A5FA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27248" y="150876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66744" y="150876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150876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" y="201168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201168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6072" y="224942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" y="2011680"/>
            <a:ext cx="484632" cy="438912"/>
          </a:xfrm>
          <a:prstGeom prst="rect">
            <a:avLst/>
          </a:prstGeom>
          <a:solidFill>
            <a:srgbClr val="FFE8E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" y="201168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15568" y="2249424"/>
            <a:ext cx="73152" cy="73152"/>
          </a:xfrm>
          <a:prstGeom prst="ellipse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08760" y="201168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8760" y="201168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55064" y="224942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48256" y="201168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8256" y="201168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194560" y="224942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87752" y="2011680"/>
            <a:ext cx="484632" cy="438912"/>
          </a:xfrm>
          <a:prstGeom prst="rect">
            <a:avLst/>
          </a:prstGeom>
          <a:solidFill>
            <a:srgbClr val="FFE8E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87752" y="201168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34056" y="2249424"/>
            <a:ext cx="73152" cy="73152"/>
          </a:xfrm>
          <a:prstGeom prst="ellipse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27248" y="201168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7248" y="201168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73552" y="224942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66744" y="2011680"/>
            <a:ext cx="484632" cy="438912"/>
          </a:xfrm>
          <a:prstGeom prst="rect">
            <a:avLst/>
          </a:prstGeom>
          <a:solidFill>
            <a:srgbClr val="E8F4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66744" y="2011680"/>
            <a:ext cx="484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13048" y="2249424"/>
            <a:ext cx="73152" cy="73152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9768" y="251460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9264" y="251460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08760" y="251460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48256" y="251460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87752" y="251460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27248" y="251460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66744" y="2514600"/>
            <a:ext cx="484632" cy="438912"/>
          </a:xfrm>
          <a:prstGeom prst="rect">
            <a:avLst/>
          </a:prstGeom>
          <a:solidFill>
            <a:srgbClr val="F1F4F8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3474720"/>
            <a:ext cx="3977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20040" y="3474720"/>
            <a:ext cx="594360" cy="256032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4747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60120" y="35112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View — Nov 06, 2021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11480" y="3794760"/>
            <a:ext cx="384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95528" y="3813048"/>
            <a:ext cx="3383280" cy="219456"/>
          </a:xfrm>
          <a:prstGeom prst="rect">
            <a:avLst/>
          </a:prstGeom>
          <a:solidFill>
            <a:srgbClr val="EBF5FF"/>
          </a:solidFill>
          <a:ln w="10160">
            <a:solidFill>
              <a:srgbClr val="1A5F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" y="3813048"/>
            <a:ext cx="36576" cy="219456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" y="38130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K. Al-Hashem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560320" y="38130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Ghamdi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11480" y="4069080"/>
            <a:ext cx="384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95528" y="4087368"/>
            <a:ext cx="3383280" cy="219456"/>
          </a:xfrm>
          <a:prstGeom prst="rect">
            <a:avLst/>
          </a:prstGeom>
          <a:solidFill>
            <a:srgbClr val="F1F4F8"/>
          </a:solidFill>
          <a:ln w="10160">
            <a:solidFill>
              <a:srgbClr val="D0D8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5528" y="4087368"/>
            <a:ext cx="36576" cy="21945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6968" y="4087368"/>
            <a:ext cx="3264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11480" y="4343400"/>
            <a:ext cx="384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95528" y="4361688"/>
            <a:ext cx="3383280" cy="219456"/>
          </a:xfrm>
          <a:prstGeom prst="rect">
            <a:avLst/>
          </a:prstGeom>
          <a:solidFill>
            <a:srgbClr val="FFF8E6"/>
          </a:solidFill>
          <a:ln w="10160">
            <a:solidFill>
              <a:srgbClr val="C47A1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5528" y="4361688"/>
            <a:ext cx="36576" cy="219456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86968" y="43616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Al Naimi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560320" y="436168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Homaid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11480" y="4617720"/>
            <a:ext cx="3840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95528" y="4636008"/>
            <a:ext cx="3383280" cy="219456"/>
          </a:xfrm>
          <a:prstGeom prst="rect">
            <a:avLst/>
          </a:prstGeom>
          <a:solidFill>
            <a:srgbClr val="FFE8E8"/>
          </a:solidFill>
          <a:ln w="10160">
            <a:solidFill>
              <a:srgbClr val="C94B4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5528" y="4636008"/>
            <a:ext cx="36576" cy="219456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6968" y="46360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Fatimah Al Bahrani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560320" y="463600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 Homaid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960120"/>
            <a:ext cx="42062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212080" y="9966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754880" y="1344168"/>
            <a:ext cx="256032" cy="256032"/>
          </a:xfrm>
          <a:prstGeom prst="ellipse">
            <a:avLst/>
          </a:prstGeom>
          <a:solidFill>
            <a:srgbClr val="0A3161"/>
          </a:solidFill>
          <a:ln w="6350">
            <a:solidFill>
              <a:srgbClr val="0A316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54880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663440" y="1627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010912" y="1472184"/>
            <a:ext cx="658368" cy="0"/>
          </a:xfrm>
          <a:prstGeom prst="line">
            <a:avLst/>
          </a:prstGeom>
          <a:noFill/>
          <a:ln w="10160">
            <a:solidFill>
              <a:srgbClr val="C0C8D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760720" y="1344168"/>
            <a:ext cx="256032" cy="256032"/>
          </a:xfrm>
          <a:prstGeom prst="ellipse">
            <a:avLst/>
          </a:prstGeom>
          <a:solidFill>
            <a:srgbClr val="F1F4F8"/>
          </a:solidFill>
          <a:ln w="6350">
            <a:solidFill>
              <a:srgbClr val="C0C8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60720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669280" y="1627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+ Room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016752" y="1472184"/>
            <a:ext cx="658368" cy="0"/>
          </a:xfrm>
          <a:prstGeom prst="line">
            <a:avLst/>
          </a:prstGeom>
          <a:noFill/>
          <a:ln w="10160">
            <a:solidFill>
              <a:srgbClr val="C0C8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0" y="1344168"/>
            <a:ext cx="256032" cy="256032"/>
          </a:xfrm>
          <a:prstGeom prst="ellipse">
            <a:avLst/>
          </a:prstGeom>
          <a:solidFill>
            <a:srgbClr val="F1F4F8"/>
          </a:solidFill>
          <a:ln w="6350">
            <a:solidFill>
              <a:srgbClr val="C0C8D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766560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675120" y="1627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022592" y="1472184"/>
            <a:ext cx="658368" cy="0"/>
          </a:xfrm>
          <a:prstGeom prst="line">
            <a:avLst/>
          </a:prstGeom>
          <a:noFill/>
          <a:ln w="10160">
            <a:solidFill>
              <a:srgbClr val="C0C8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772400" y="1344168"/>
            <a:ext cx="256032" cy="256032"/>
          </a:xfrm>
          <a:prstGeom prst="ellipse">
            <a:avLst/>
          </a:prstGeom>
          <a:solidFill>
            <a:srgbClr val="F1F4F8"/>
          </a:solidFill>
          <a:ln w="6350">
            <a:solidFill>
              <a:srgbClr val="C0C8D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772400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680960" y="1627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709160" y="1874520"/>
            <a:ext cx="3931920" cy="256032"/>
          </a:xfrm>
          <a:prstGeom prst="rect">
            <a:avLst/>
          </a:prstGeom>
          <a:solidFill>
            <a:srgbClr val="F1F4F8"/>
          </a:solidFill>
          <a:ln w="6350">
            <a:solidFill>
              <a:srgbClr val="C8D4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0060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patient by name or ID...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709160" y="2194560"/>
            <a:ext cx="393192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B0D0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73168" y="2276856"/>
            <a:ext cx="182880" cy="18288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010912" y="2221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Abdulaziz Naimi  |  Quadra Med: 323740  |  BC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8183880" y="2258568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✓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709160" y="2679192"/>
            <a:ext cx="3931920" cy="320040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09160" y="2679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Select Doctor &amp; Room →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0" y="3474720"/>
            <a:ext cx="42062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4572000" y="3474720"/>
            <a:ext cx="594360" cy="256032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72000" y="34747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5212080" y="35112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Alerts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4663440" y="3822192"/>
            <a:ext cx="4023360" cy="292608"/>
          </a:xfrm>
          <a:prstGeom prst="rect">
            <a:avLst/>
          </a:prstGeom>
          <a:solidFill>
            <a:srgbClr val="EAF2FB"/>
          </a:solidFill>
          <a:ln w="5080">
            <a:solidFill>
              <a:srgbClr val="D0DC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36592" y="3913632"/>
            <a:ext cx="109728" cy="1097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919472" y="3858768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tomorrow — Khalid Al Dosari, 2:00 PM, Dr. Al Sheikh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663440" y="4169664"/>
            <a:ext cx="4023360" cy="292608"/>
          </a:xfrm>
          <a:prstGeom prst="rect">
            <a:avLst/>
          </a:prstGeom>
          <a:solidFill>
            <a:srgbClr val="FDF3E3"/>
          </a:solidFill>
          <a:ln w="5080">
            <a:solidFill>
              <a:srgbClr val="D0DC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36592" y="4261104"/>
            <a:ext cx="109728" cy="109728"/>
          </a:xfrm>
          <a:prstGeom prst="ellipse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19472" y="4206240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Non-payment overdue — Omar Al Hamdan  (SAR 780)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663440" y="4517136"/>
            <a:ext cx="4023360" cy="292608"/>
          </a:xfrm>
          <a:prstGeom prst="rect">
            <a:avLst/>
          </a:prstGeom>
          <a:solidFill>
            <a:srgbClr val="FAEAEA"/>
          </a:solidFill>
          <a:ln w="5080">
            <a:solidFill>
              <a:srgbClr val="D0DCF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36592" y="4608576"/>
            <a:ext cx="109728" cy="109728"/>
          </a:xfrm>
          <a:prstGeom prst="ellipse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19472" y="4553712"/>
            <a:ext cx="3730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overdue — Fatimah Al Bahrani (no next visit booked)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· Reports &amp; Analytics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analytics, doctor performance, and room occupancy — with export capability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486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9966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Analytics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280160"/>
          <a:ext cx="24688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411480" y="2743200"/>
          <a:ext cx="24688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3200400" y="96012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60120"/>
            <a:ext cx="5486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960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794760" y="996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Performance</a:t>
            </a:r>
            <a:endParaRPr lang="en-US" sz="1000" dirty="0"/>
          </a:p>
        </p:txBody>
      </p:sp>
      <p:graphicFrame>
        <p:nvGraphicFramePr>
          <p:cNvPr id="15" name="Chart 2" descr=""/>
          <p:cNvGraphicFramePr/>
          <p:nvPr/>
        </p:nvGraphicFramePr>
        <p:xfrm>
          <a:off x="3246120" y="1280160"/>
          <a:ext cx="2606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Shape 11"/>
          <p:cNvSpPr/>
          <p:nvPr/>
        </p:nvSpPr>
        <p:spPr>
          <a:xfrm>
            <a:off x="6172200" y="960120"/>
            <a:ext cx="26060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72200" y="960120"/>
            <a:ext cx="5486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72200" y="960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766560" y="99669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Occupancy</a:t>
            </a:r>
            <a:endParaRPr lang="en-US" sz="1000" dirty="0"/>
          </a:p>
        </p:txBody>
      </p:sp>
      <p:graphicFrame>
        <p:nvGraphicFramePr>
          <p:cNvPr id="20" name="Chart 3" descr=""/>
          <p:cNvGraphicFramePr/>
          <p:nvPr/>
        </p:nvGraphicFramePr>
        <p:xfrm>
          <a:off x="6217920" y="1280160"/>
          <a:ext cx="2468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Roles &amp; Access Permissions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the modules and actions relevant to their responsibilities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97480" cy="3566160"/>
          </a:xfrm>
          <a:prstGeom prst="rect">
            <a:avLst/>
          </a:prstGeom>
          <a:solidFill>
            <a:srgbClr val="1A3A6A"/>
          </a:solidFill>
          <a:ln w="10160">
            <a:solidFill>
              <a:srgbClr val="1A5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697480" cy="59436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716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73152" cy="731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011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496312"/>
            <a:ext cx="73152" cy="731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404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DB &amp; Registration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889504"/>
            <a:ext cx="73152" cy="731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798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directory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3282696"/>
            <a:ext cx="73152" cy="731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31912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clinic rooms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675888"/>
            <a:ext cx="73152" cy="731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584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daily schedule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4069080"/>
            <a:ext cx="73152" cy="731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977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Non-payment tracker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4462272"/>
            <a:ext cx="73152" cy="731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370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&amp; exports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91840" y="1280160"/>
            <a:ext cx="2697480" cy="3566160"/>
          </a:xfrm>
          <a:prstGeom prst="rect">
            <a:avLst/>
          </a:prstGeom>
          <a:solidFill>
            <a:srgbClr val="0A3A3A"/>
          </a:solidFill>
          <a:ln w="10160">
            <a:solidFill>
              <a:srgbClr val="0F8B8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0" y="1280160"/>
            <a:ext cx="269748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37160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4048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3429000" y="2103120"/>
            <a:ext cx="73152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84448" y="2011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patient tracker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429000" y="2496312"/>
            <a:ext cx="73152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84448" y="2404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profiles (own pts)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429000" y="2889504"/>
            <a:ext cx="73152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84448" y="2798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schedule view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429000" y="3282696"/>
            <a:ext cx="73152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584448" y="31912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logging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429000" y="3675888"/>
            <a:ext cx="73152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84448" y="3584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follow-ups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429000" y="4069080"/>
            <a:ext cx="73152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84448" y="3977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 (limited)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429000" y="4462272"/>
            <a:ext cx="73152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84448" y="4370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 (own)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217920" y="1280160"/>
            <a:ext cx="2697480" cy="3566160"/>
          </a:xfrm>
          <a:prstGeom prst="rect">
            <a:avLst/>
          </a:prstGeom>
          <a:solidFill>
            <a:srgbClr val="2A1A5A"/>
          </a:solidFill>
          <a:ln w="10160">
            <a:solidFill>
              <a:srgbClr val="5C4AB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217920" y="1280160"/>
            <a:ext cx="2697480" cy="594360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371600"/>
            <a:ext cx="384048" cy="38404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766560" y="1371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Receptionist</a:t>
            </a:r>
            <a:endParaRPr lang="en-US" sz="1600" dirty="0"/>
          </a:p>
        </p:txBody>
      </p:sp>
      <p:sp>
        <p:nvSpPr>
          <p:cNvPr id="44" name="Shape 39"/>
          <p:cNvSpPr/>
          <p:nvPr/>
        </p:nvSpPr>
        <p:spPr>
          <a:xfrm>
            <a:off x="6355080" y="2103120"/>
            <a:ext cx="73152" cy="7315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510528" y="2011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355080" y="2496312"/>
            <a:ext cx="73152" cy="7315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10528" y="24048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 &amp; profile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355080" y="2889504"/>
            <a:ext cx="73152" cy="7315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10528" y="2798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355080" y="3282696"/>
            <a:ext cx="73152" cy="7315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510528" y="31912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doctor schedules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355080" y="3675888"/>
            <a:ext cx="73152" cy="7315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510528" y="3584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appointment tickets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355080" y="4069080"/>
            <a:ext cx="73152" cy="7315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510528" y="3977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Non-payment flags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355080" y="4462272"/>
            <a:ext cx="73152" cy="73152"/>
          </a:xfrm>
          <a:prstGeom prst="rect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510528" y="4370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reporting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Field Mapping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 fields are sourced directly from the provided Excel files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251960" cy="457200"/>
          </a:xfrm>
          <a:prstGeom prst="rect">
            <a:avLst/>
          </a:prstGeom>
          <a:solidFill>
            <a:srgbClr val="C47A15">
              <a:alpha val="90000"/>
            </a:srgbClr>
          </a:solidFill>
          <a:ln w="12700">
            <a:solidFill>
              <a:srgbClr val="C47A15">
                <a:alpha val="9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789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0__Schedule_Business_Center_NOVEMBER.xlsx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" y="12527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NOVEMBER-BC · CBCT · NOVEMBER-NONPAYMENT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11480" y="1536192"/>
            <a:ext cx="1280160" cy="201168"/>
          </a:xfrm>
          <a:prstGeom prst="rect">
            <a:avLst/>
          </a:prstGeom>
          <a:solidFill>
            <a:srgbClr val="C47A15">
              <a:alpha val="20000"/>
            </a:srgbClr>
          </a:solidFill>
          <a:ln w="12700">
            <a:solidFill>
              <a:srgbClr val="C47A15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153619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Appointment System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57200" y="1810512"/>
            <a:ext cx="54864" cy="54864"/>
          </a:xfrm>
          <a:prstGeom prst="ellipse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17647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slots (30-min)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54864" cy="54864"/>
          </a:xfrm>
          <a:prstGeom prst="ellipse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19659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per room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2212848"/>
            <a:ext cx="54864" cy="54864"/>
          </a:xfrm>
          <a:prstGeom prst="ellipse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21671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per slot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2414016"/>
            <a:ext cx="54864" cy="54864"/>
          </a:xfrm>
          <a:prstGeom prst="ellipse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" y="23682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Non-payment tracking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2615184"/>
            <a:ext cx="54864" cy="54864"/>
          </a:xfrm>
          <a:prstGeom prst="ellipse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25694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CBCT appointments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54880" y="100584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1005840"/>
            <a:ext cx="4251960" cy="457200"/>
          </a:xfrm>
          <a:prstGeom prst="rect">
            <a:avLst/>
          </a:prstGeom>
          <a:solidFill>
            <a:srgbClr val="1A5FA8">
              <a:alpha val="90000"/>
            </a:srgbClr>
          </a:solidFill>
          <a:ln w="12700">
            <a:solidFill>
              <a:srgbClr val="1A5FA8">
                <a:alpha val="90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78992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12080" y="1060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1__Pt_Tracker.xlsx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212080" y="12527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sheets (one per doctor)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4846320" y="1536192"/>
            <a:ext cx="1280160" cy="201168"/>
          </a:xfrm>
          <a:prstGeom prst="rect">
            <a:avLst/>
          </a:prstGeom>
          <a:solidFill>
            <a:srgbClr val="1A5FA8">
              <a:alpha val="20000"/>
            </a:srgbClr>
          </a:solidFill>
          <a:ln w="12700">
            <a:solidFill>
              <a:srgbClr val="1A5FA8">
                <a:alpha val="6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64608" y="153619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Patient Tracker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892040" y="1810512"/>
            <a:ext cx="54864" cy="54864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10912" y="17647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SN, Patient Category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892040" y="2011680"/>
            <a:ext cx="54864" cy="54864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10912" y="19659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Number, Quadra Med #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892040" y="2212848"/>
            <a:ext cx="54864" cy="54864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10912" y="21671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Number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892040" y="2414016"/>
            <a:ext cx="54864" cy="54864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10912" y="23682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Visit + Last Treatment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4892040" y="2615184"/>
            <a:ext cx="54864" cy="54864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10912" y="256946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Visit + Next Treatment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320040" y="310896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320040" y="3108960"/>
            <a:ext cx="4251960" cy="457200"/>
          </a:xfrm>
          <a:prstGeom prst="rect">
            <a:avLst/>
          </a:prstGeom>
          <a:solidFill>
            <a:srgbClr val="5C4AB8">
              <a:alpha val="90000"/>
            </a:srgbClr>
          </a:solidFill>
          <a:ln w="12700">
            <a:solidFill>
              <a:srgbClr val="5C4AB8">
                <a:alpha val="90000"/>
              </a:srgbClr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77240" y="31638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2__Pt_Database.xlsx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777240" y="33558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Pedo · Hygienist · OR · BAWON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411480" y="3639312"/>
            <a:ext cx="1280160" cy="201168"/>
          </a:xfrm>
          <a:prstGeom prst="rect">
            <a:avLst/>
          </a:prstGeom>
          <a:solidFill>
            <a:srgbClr val="5C4AB8">
              <a:alpha val="20000"/>
            </a:srgbClr>
          </a:solidFill>
          <a:ln w="12700">
            <a:solidFill>
              <a:srgbClr val="5C4AB8">
                <a:alpha val="60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29768" y="36393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C4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Patient Database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457200" y="3913632"/>
            <a:ext cx="54864" cy="54864"/>
          </a:xfrm>
          <a:prstGeom prst="ellipse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76072" y="38679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SN, Patient Category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457200" y="4114800"/>
            <a:ext cx="54864" cy="54864"/>
          </a:xfrm>
          <a:prstGeom prst="ellipse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576072" y="40690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Number, Quadra Med #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457200" y="4315968"/>
            <a:ext cx="54864" cy="54864"/>
          </a:xfrm>
          <a:prstGeom prst="ellipse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76072" y="42702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/ Iqama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457200" y="4517136"/>
            <a:ext cx="54864" cy="54864"/>
          </a:xfrm>
          <a:prstGeom prst="ellipse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576072" y="44714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Name, Contact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457200" y="4718304"/>
            <a:ext cx="54864" cy="54864"/>
          </a:xfrm>
          <a:prstGeom prst="ellipse">
            <a:avLst/>
          </a:prstGeom>
          <a:solidFill>
            <a:srgbClr val="5C4AB8"/>
          </a:solidFill>
          <a:ln w="12700">
            <a:solidFill>
              <a:srgbClr val="5C4AB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576072" y="467258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First Visit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4754880" y="310896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4754880" y="3108960"/>
            <a:ext cx="4251960" cy="457200"/>
          </a:xfrm>
          <a:prstGeom prst="rect">
            <a:avLst/>
          </a:prstGeom>
          <a:solidFill>
            <a:srgbClr val="0F8B8D">
              <a:alpha val="90000"/>
            </a:srgbClr>
          </a:solidFill>
          <a:ln w="12700">
            <a:solidFill>
              <a:srgbClr val="0F8B8D">
                <a:alpha val="90000"/>
              </a:srgbClr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82112"/>
            <a:ext cx="292608" cy="292608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212080" y="31638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3__Pt_Registration.xlsx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5212080" y="33558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Sheet1 (bilingual form)</a:t>
            </a:r>
            <a:endParaRPr lang="en-US" sz="750" dirty="0"/>
          </a:p>
        </p:txBody>
      </p:sp>
      <p:sp>
        <p:nvSpPr>
          <p:cNvPr id="60" name="Shape 54"/>
          <p:cNvSpPr/>
          <p:nvPr/>
        </p:nvSpPr>
        <p:spPr>
          <a:xfrm>
            <a:off x="4846320" y="3639312"/>
            <a:ext cx="1280160" cy="201168"/>
          </a:xfrm>
          <a:prstGeom prst="rect">
            <a:avLst/>
          </a:prstGeom>
          <a:solidFill>
            <a:srgbClr val="0F8B8D">
              <a:alpha val="20000"/>
            </a:srgbClr>
          </a:solidFill>
          <a:ln w="12700">
            <a:solidFill>
              <a:srgbClr val="0F8B8D">
                <a:alpha val="60000"/>
              </a:srgbClr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4864608" y="36393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Patient Registration</a:t>
            </a:r>
            <a:endParaRPr lang="en-US" sz="750" dirty="0"/>
          </a:p>
        </p:txBody>
      </p:sp>
      <p:sp>
        <p:nvSpPr>
          <p:cNvPr id="62" name="Shape 56"/>
          <p:cNvSpPr/>
          <p:nvPr/>
        </p:nvSpPr>
        <p:spPr>
          <a:xfrm>
            <a:off x="4892040" y="3913632"/>
            <a:ext cx="54864" cy="5486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5010912" y="38679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(AR/EN), DOB, Gender</a:t>
            </a:r>
            <a:endParaRPr lang="en-US" sz="800" dirty="0"/>
          </a:p>
        </p:txBody>
      </p:sp>
      <p:sp>
        <p:nvSpPr>
          <p:cNvPr id="64" name="Shape 58"/>
          <p:cNvSpPr/>
          <p:nvPr/>
        </p:nvSpPr>
        <p:spPr>
          <a:xfrm>
            <a:off x="4892040" y="4114800"/>
            <a:ext cx="54864" cy="5486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5010912" y="40690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Nationality, Marital Status, Religion</a:t>
            </a:r>
            <a:endParaRPr lang="en-US" sz="800" dirty="0"/>
          </a:p>
        </p:txBody>
      </p:sp>
      <p:sp>
        <p:nvSpPr>
          <p:cNvPr id="66" name="Shape 60"/>
          <p:cNvSpPr/>
          <p:nvPr/>
        </p:nvSpPr>
        <p:spPr>
          <a:xfrm>
            <a:off x="4892040" y="4315968"/>
            <a:ext cx="54864" cy="5486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5010912" y="42702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/ Iqama + expiry</a:t>
            </a:r>
            <a:endParaRPr lang="en-US" sz="800" dirty="0"/>
          </a:p>
        </p:txBody>
      </p:sp>
      <p:sp>
        <p:nvSpPr>
          <p:cNvPr id="68" name="Shape 62"/>
          <p:cNvSpPr/>
          <p:nvPr/>
        </p:nvSpPr>
        <p:spPr>
          <a:xfrm>
            <a:off x="4892040" y="4517136"/>
            <a:ext cx="54864" cy="5486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9" name="Text 63"/>
          <p:cNvSpPr/>
          <p:nvPr/>
        </p:nvSpPr>
        <p:spPr>
          <a:xfrm>
            <a:off x="5010912" y="44714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Email, City, Job</a:t>
            </a:r>
            <a:endParaRPr lang="en-US" sz="800" dirty="0"/>
          </a:p>
        </p:txBody>
      </p:sp>
      <p:sp>
        <p:nvSpPr>
          <p:cNvPr id="70" name="Shape 64"/>
          <p:cNvSpPr/>
          <p:nvPr/>
        </p:nvSpPr>
        <p:spPr>
          <a:xfrm>
            <a:off x="4892040" y="4718304"/>
            <a:ext cx="54864" cy="5486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5010912" y="467258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pre-screening (12 questions)</a:t>
            </a:r>
            <a:endParaRPr lang="en-US" sz="800" dirty="0"/>
          </a:p>
        </p:txBody>
      </p:sp>
      <p:sp>
        <p:nvSpPr>
          <p:cNvPr id="72" name="Text 66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4-phase build sequence for the Dental Business Center web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54864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024128"/>
            <a:ext cx="237744" cy="237744"/>
          </a:xfrm>
          <a:prstGeom prst="ellipse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1261872"/>
            <a:ext cx="0" cy="320040"/>
          </a:xfrm>
          <a:prstGeom prst="line">
            <a:avLst/>
          </a:prstGeom>
          <a:noFill/>
          <a:ln w="15240">
            <a:solidFill>
              <a:srgbClr val="0A316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2011680" cy="566928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54864" cy="54864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41401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 system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5292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54864" cy="54864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9184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form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03904"/>
            <a:ext cx="54864" cy="54864"/>
          </a:xfrm>
          <a:prstGeom prst="rect">
            <a:avLst/>
          </a:prstGeom>
          <a:solidFill>
            <a:srgbClr val="0A3161"/>
          </a:solidFill>
          <a:ln w="12700">
            <a:solidFill>
              <a:srgbClr val="0A31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3075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patient database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1024128"/>
            <a:ext cx="237744" cy="237744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1261872"/>
            <a:ext cx="0" cy="320040"/>
          </a:xfrm>
          <a:prstGeom prst="line">
            <a:avLst/>
          </a:prstGeom>
          <a:noFill/>
          <a:ln w="15240">
            <a:solidFill>
              <a:srgbClr val="1A5FA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560320" y="160020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0" y="1600200"/>
            <a:ext cx="2011680" cy="56692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22128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51760" y="2487168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241401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tracker (27 doctors)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51760" y="2926080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61488" y="285292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directory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51760" y="3364992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61488" y="329184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room management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51760" y="3803904"/>
            <a:ext cx="54864" cy="5486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61488" y="373075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1024128"/>
            <a:ext cx="237744" cy="23774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9552" y="1261872"/>
            <a:ext cx="0" cy="320040"/>
          </a:xfrm>
          <a:prstGeom prst="line">
            <a:avLst/>
          </a:prstGeom>
          <a:noFill/>
          <a:ln w="15240">
            <a:solidFill>
              <a:srgbClr val="0F8B8D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663440" y="160020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600200"/>
            <a:ext cx="2011680" cy="5669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54880" y="22128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487168"/>
            <a:ext cx="54864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41401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calendar view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926080"/>
            <a:ext cx="54864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285292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slot view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364992"/>
            <a:ext cx="54864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29184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wizard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803904"/>
            <a:ext cx="54864" cy="5486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73075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alerts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43800" y="102412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62672" y="1261872"/>
            <a:ext cx="0" cy="320040"/>
          </a:xfrm>
          <a:prstGeom prst="line">
            <a:avLst/>
          </a:prstGeom>
          <a:noFill/>
          <a:ln w="15240">
            <a:solidFill>
              <a:srgbClr val="2E7D3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766560" y="160020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66560" y="1600200"/>
            <a:ext cx="201168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0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Reports &amp; Polish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858000" y="22128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2487168"/>
            <a:ext cx="54864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2414016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58000" y="2926080"/>
            <a:ext cx="54864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67728" y="285292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performance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58000" y="3364992"/>
            <a:ext cx="54864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67728" y="3291840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occupancy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8000" y="3803904"/>
            <a:ext cx="54864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67728" y="3730752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print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stack:  React.js + Node.js + PostgreSQL + Express  |  Deployment: Cloud (AWS / Azure)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A5FA8">
              <a:alpha val="20000"/>
            </a:srgbClr>
          </a:solidFill>
          <a:ln w="12700">
            <a:solidFill>
              <a:srgbClr val="1A5F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F8B8D">
              <a:alpha val="15000"/>
            </a:srgbClr>
          </a:solidFill>
          <a:ln w="12700">
            <a:solidFill>
              <a:srgbClr val="0F8B8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303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08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3591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storyboard defines all 16 screens, 5 phases, and data flows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Dental Business Center web system.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137160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73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" y="3657600"/>
            <a:ext cx="164592" cy="16459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611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storyboard and confirm scope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" y="3959352"/>
            <a:ext cx="164592" cy="16459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39136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Phase 1: Foundation (Login + Patient Registration)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" y="4261104"/>
            <a:ext cx="164592" cy="16459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42153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database schema and field mapping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" y="4562856"/>
            <a:ext cx="164592" cy="16459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45171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 across 13-week timeline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</a:rPr>
              <a:t>Dental Business Center  ·  System Storyboard  ·  2025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868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Business Center – System Storyboard</dc:title>
  <dc:subject>PptxGenJS Presentation</dc:subject>
  <dc:creator>Dental Business Center</dc:creator>
  <cp:lastModifiedBy>Dental Business Center</cp:lastModifiedBy>
  <cp:revision>1</cp:revision>
  <dcterms:created xsi:type="dcterms:W3CDTF">2026-06-07T11:42:09Z</dcterms:created>
  <dcterms:modified xsi:type="dcterms:W3CDTF">2026-06-07T11:42:09Z</dcterms:modified>
</cp:coreProperties>
</file>